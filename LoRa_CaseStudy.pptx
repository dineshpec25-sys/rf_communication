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309360" y="2011680"/>
            <a:ext cx="1097280" cy="1097280"/>
          </a:xfrm>
          <a:prstGeom prst="ellipse">
            <a:avLst/>
          </a:prstGeom>
          <a:solidFill>
            <a:srgbClr val="000000">
              <a:alpha val="0"/>
            </a:srgbClr>
          </a:solidFill>
          <a:ln w="12700">
            <a:solidFill>
              <a:srgbClr val="FF4444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15000" y="1417320"/>
            <a:ext cx="2286000" cy="2286000"/>
          </a:xfrm>
          <a:prstGeom prst="ellipse">
            <a:avLst/>
          </a:prstGeom>
          <a:solidFill>
            <a:srgbClr val="000000">
              <a:alpha val="0"/>
            </a:srgbClr>
          </a:solidFill>
          <a:ln w="12700">
            <a:solidFill>
              <a:srgbClr val="FF4444">
                <a:alpha val="6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20640" y="822960"/>
            <a:ext cx="3474720" cy="3474720"/>
          </a:xfrm>
          <a:prstGeom prst="ellipse">
            <a:avLst/>
          </a:prstGeom>
          <a:solidFill>
            <a:srgbClr val="000000">
              <a:alpha val="0"/>
            </a:srgbClr>
          </a:solidFill>
          <a:ln w="12700">
            <a:solidFill>
              <a:srgbClr val="FF4444">
                <a:alpha val="4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26280" y="228600"/>
            <a:ext cx="4663440" cy="4663440"/>
          </a:xfrm>
          <a:prstGeom prst="ellipse">
            <a:avLst/>
          </a:prstGeom>
          <a:solidFill>
            <a:srgbClr val="000000">
              <a:alpha val="0"/>
            </a:srgbClr>
          </a:solidFill>
          <a:ln w="12700">
            <a:solidFill>
              <a:srgbClr val="FF4444">
                <a:alpha val="2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47472"/>
            <a:ext cx="1463040" cy="292608"/>
          </a:xfrm>
          <a:prstGeom prst="rect">
            <a:avLst/>
          </a:prstGeom>
          <a:solidFill>
            <a:srgbClr val="FF4444">
              <a:alpha val="20000"/>
            </a:srgbClr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747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STUDY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86868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Communication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132588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Disaster Relief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192024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Using LoRa RANGER–VILLAGE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457200" y="260604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A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Communication System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457200" y="3337560"/>
            <a:ext cx="3200400" cy="3657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7472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WROOM-32E  ·  SX1278 433MHz  ·  MAX7219 Matrix  ·  WebSocket Dashboard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886200"/>
            <a:ext cx="123444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39319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A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433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57200" y="4224528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MHz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4407408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Freq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874520" y="3886200"/>
            <a:ext cx="123444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874520" y="39319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A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-54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874520" y="4224528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874520" y="4407408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RSSI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291840" y="3886200"/>
            <a:ext cx="123444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291840" y="39319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A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10+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291840" y="4224528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291840" y="4407408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709160" y="3886200"/>
            <a:ext cx="123444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09160" y="39319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A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4709160" y="4224528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09160" y="4407408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Cost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0" y="4846320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No. 100234  |  Embedded Systems &amp; IoT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communication fails when it matters most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1005840"/>
          </a:xfrm>
          <a:prstGeom prst="rect">
            <a:avLst/>
          </a:prstGeom>
          <a:solidFill>
            <a:srgbClr val="0D1B2A"/>
          </a:solidFill>
          <a:ln w="25400">
            <a:solidFill>
              <a:srgbClr val="F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14400"/>
            <a:ext cx="73152" cy="1005840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987552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the 2023 Turkey earthquake, 96% of cellular towers in the affected zone failed within 6 hours — leaving rescue teams with zero coordination infrastructure for days.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103120"/>
            <a:ext cx="2651760" cy="109728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103120"/>
            <a:ext cx="2651760" cy="36576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2194560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📵  Cellular Failure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" y="2487168"/>
            <a:ext cx="24323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towers are first infrastructure to collapse in floods, earthquakes and storms.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0" y="2103120"/>
            <a:ext cx="2651760" cy="109728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2103120"/>
            <a:ext cx="2651760" cy="36576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0128" y="2194560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🛰  Satellite Cost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10128" y="2487168"/>
            <a:ext cx="24323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phones cost $1000+ per unit and $5/min. Not feasible for large teams.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35040" y="2103120"/>
            <a:ext cx="2651760" cy="109728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2103120"/>
            <a:ext cx="2651760" cy="36576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44768" y="2194560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📻  Radio Range Limits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44768" y="2487168"/>
            <a:ext cx="24323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walkie-talkies limited to 2-5km. No message logging or display.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3337560"/>
            <a:ext cx="2651760" cy="109728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337560"/>
            <a:ext cx="2651760" cy="36576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3429000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Power Dependency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" y="3721608"/>
            <a:ext cx="24323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routers, internet modems all fail without grid power during disasters.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0" y="3337560"/>
            <a:ext cx="2651760" cy="109728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0" y="3337560"/>
            <a:ext cx="2651760" cy="36576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10128" y="3429000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  No Coordination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310128" y="3721608"/>
            <a:ext cx="24323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teams can't relay structured alerts to base — critical info gets lost.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035040" y="3337560"/>
            <a:ext cx="2651760" cy="109728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035040" y="3337560"/>
            <a:ext cx="2651760" cy="36576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44768" y="3429000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High Infrastructure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44768" y="3721608"/>
            <a:ext cx="24323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up emergency comms traditionally requires expensive hardware &amp; technicians.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AA00"/>
          </a:solidFill>
          <a:ln w="12700">
            <a:solidFill>
              <a:srgbClr val="FFAA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EXISTING SOLUTIONS &amp; LIMITATIONS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available today and why it falls short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2011680" cy="397764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14400"/>
            <a:ext cx="2011680" cy="365760"/>
          </a:xfrm>
          <a:prstGeom prst="rect">
            <a:avLst/>
          </a:prstGeom>
          <a:solidFill>
            <a:srgbClr val="CC6600"/>
          </a:solidFill>
          <a:ln w="12700">
            <a:solidFill>
              <a:srgbClr val="CC66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14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Phone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417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 PROS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6276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Global coverage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19019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Works anywhere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23591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✖ CONS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25877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$1000+ per unit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" y="286207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$5/min call cost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31363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Fragile hardware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11480" y="341071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Requires clear sky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468880" y="914400"/>
            <a:ext cx="2011680" cy="397764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468880" y="914400"/>
            <a:ext cx="2011680" cy="36576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68880" y="914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VHF/UHF Radio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560320" y="1417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 PROS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560320" y="16276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Reliable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560320" y="19019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No infrastructure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560320" y="23591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✖ CONS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560320" y="25877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- 2-5km range only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560320" y="286207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Voice only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560320" y="31363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No display/log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560320" y="341071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Needs trained operator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17720" y="914400"/>
            <a:ext cx="2011680" cy="397764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17720" y="914400"/>
            <a:ext cx="2011680" cy="365760"/>
          </a:xfrm>
          <a:prstGeom prst="rect">
            <a:avLst/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17720" y="914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GSM/4G Module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09160" y="1417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 PROS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09160" y="16276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Long range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09160" y="19019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Data capable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09160" y="23591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✖ CONS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09160" y="25877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Tower dependent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709160" y="286207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Fails in disasters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09160" y="31363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Monthly SIM cost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709160" y="341071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No offline mode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766560" y="914400"/>
            <a:ext cx="2011680" cy="3977640"/>
          </a:xfrm>
          <a:prstGeom prst="rect">
            <a:avLst/>
          </a:prstGeom>
          <a:solidFill>
            <a:srgbClr val="0D2A1A"/>
          </a:solidFill>
          <a:ln w="25400">
            <a:solidFill>
              <a:srgbClr val="00FF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766560" y="914400"/>
            <a:ext cx="2011680" cy="365760"/>
          </a:xfrm>
          <a:prstGeom prst="rect">
            <a:avLst/>
          </a:prstGeom>
          <a:solidFill>
            <a:srgbClr val="006633"/>
          </a:solidFill>
          <a:ln w="12700">
            <a:solidFill>
              <a:srgbClr val="0066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66560" y="914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LoRa (Our System)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858000" y="1417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 PROS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858000" y="16276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+ 10+ km range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858000" y="19019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No SIM/tower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858000" y="217627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Ultra low power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858000" y="24505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Structured messages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858000" y="272491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Web dashboard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858000" y="29992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Under ₹2000 cost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858000" y="34564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✖ CONS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858000" y="36850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Low data rate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858000" y="39593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Line of sight helps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766560" y="4480560"/>
            <a:ext cx="2011680" cy="411480"/>
          </a:xfrm>
          <a:prstGeom prst="rect">
            <a:avLst/>
          </a:prstGeom>
          <a:solidFill>
            <a:srgbClr val="00FF88">
              <a:alpha val="20000"/>
            </a:srgbClr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766560" y="44805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 FIT ★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SOLUTION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RANGER–VILLAGE System in Disaster Relief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0FF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14400"/>
            <a:ext cx="73152" cy="59436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969264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A flood has cut off a village. All cell towers are down. A RANGER team moves into the field. A VILLAGE base camp is set up 5km away. They need real-time two-way communication — no internet, no SIM cards.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691640"/>
            <a:ext cx="2286000" cy="1920240"/>
          </a:xfrm>
          <a:prstGeom prst="rect">
            <a:avLst/>
          </a:prstGeom>
          <a:solidFill>
            <a:srgbClr val="145A32"/>
          </a:solidFill>
          <a:ln w="25400">
            <a:solidFill>
              <a:srgbClr val="00FF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17830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🏕 BASE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CAMP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4231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VILLAGE Node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MAX7219 Matrix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 Buttons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6120" y="1691640"/>
            <a:ext cx="2286000" cy="1920240"/>
          </a:xfrm>
          <a:prstGeom prst="rect">
            <a:avLst/>
          </a:prstGeom>
          <a:solidFill>
            <a:srgbClr val="784212"/>
          </a:solidFill>
          <a:ln w="25400">
            <a:solidFill>
              <a:srgbClr val="FFAA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46120" y="17830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📡 LoRa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433MHz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24231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10km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tower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691640"/>
            <a:ext cx="2286000" cy="1920240"/>
          </a:xfrm>
          <a:prstGeom prst="rect">
            <a:avLst/>
          </a:prstGeom>
          <a:solidFill>
            <a:srgbClr val="1A3A5F"/>
          </a:solidFill>
          <a:ln w="25400">
            <a:solidFill>
              <a:srgbClr val="4A9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0" y="17830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🧑 FIELD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RANGER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17920" y="24231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RANGER Node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Hotspot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697480" y="2578608"/>
            <a:ext cx="594360" cy="36576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33472" y="23774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MSG: All clear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697480" y="2834640"/>
            <a:ext cx="594360" cy="36576"/>
          </a:xfrm>
          <a:prstGeom prst="rect">
            <a:avLst/>
          </a:prstGeom>
          <a:solidFill>
            <a:srgbClr val="FFAA00"/>
          </a:solidFill>
          <a:ln w="12700">
            <a:solidFill>
              <a:srgbClr val="FFAA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33472" y="290779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A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KW: danger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577840" y="2578608"/>
            <a:ext cx="594360" cy="36576"/>
          </a:xfrm>
          <a:prstGeom prst="rect">
            <a:avLst/>
          </a:prstGeom>
          <a:solidFill>
            <a:srgbClr val="FFAA00"/>
          </a:solidFill>
          <a:ln w="12700">
            <a:solidFill>
              <a:srgbClr val="FFAA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577840" y="2834640"/>
            <a:ext cx="594360" cy="36576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3749040"/>
            <a:ext cx="402336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749040"/>
            <a:ext cx="54864" cy="54864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79476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No Infrastructure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" y="40233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without cell towers, WiFi routers or internet — fully self-contained.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4389120"/>
            <a:ext cx="402336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4389120"/>
            <a:ext cx="54864" cy="54864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443484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Ultra Low Power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2920" y="466344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+ SX1278 runs on battery pack for days in the field.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63440" y="3749040"/>
            <a:ext cx="402336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63440" y="3749040"/>
            <a:ext cx="54864" cy="54864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379476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Live Dashboard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00600" y="40233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smartphone connects to RANGER_NET and monitors all messages in real time.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63440" y="4389120"/>
            <a:ext cx="402336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63440" y="4389120"/>
            <a:ext cx="54864" cy="54864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0600" y="443484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Structured Alerts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00600" y="466344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pre-coded keywords map to full messages — no typing errors under stress.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TECHNICAL COMPARISON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vs existing emergency communication technologies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2011680" cy="347472"/>
          </a:xfrm>
          <a:prstGeom prst="rect">
            <a:avLst/>
          </a:prstGeom>
          <a:solidFill>
            <a:srgbClr val="1A2F4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Parameter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331720" y="914400"/>
            <a:ext cx="1554480" cy="347472"/>
          </a:xfrm>
          <a:prstGeom prst="rect">
            <a:avLst/>
          </a:prstGeom>
          <a:solidFill>
            <a:srgbClr val="1A2F4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31720" y="9144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GSM/4G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913632" y="914400"/>
            <a:ext cx="1554480" cy="347472"/>
          </a:xfrm>
          <a:prstGeom prst="rect">
            <a:avLst/>
          </a:prstGeom>
          <a:solidFill>
            <a:srgbClr val="1A2F4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13632" y="9144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VHF Radio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0" y="914400"/>
            <a:ext cx="1554480" cy="347472"/>
          </a:xfrm>
          <a:prstGeom prst="rect">
            <a:avLst/>
          </a:prstGeom>
          <a:solidFill>
            <a:srgbClr val="1A2F4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0" y="9144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Satellite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068312" y="914400"/>
            <a:ext cx="1828800" cy="347472"/>
          </a:xfrm>
          <a:prstGeom prst="rect">
            <a:avLst/>
          </a:prstGeom>
          <a:solidFill>
            <a:srgbClr val="145A32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68312" y="9144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LoRa (Ours)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1298448"/>
            <a:ext cx="2011680" cy="365760"/>
          </a:xfrm>
          <a:prstGeom prst="rect">
            <a:avLst/>
          </a:prstGeom>
          <a:solidFill>
            <a:srgbClr val="0D1F2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12984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331720" y="1298448"/>
            <a:ext cx="1554480" cy="365760"/>
          </a:xfrm>
          <a:prstGeom prst="rect">
            <a:avLst/>
          </a:prstGeom>
          <a:solidFill>
            <a:srgbClr val="0D1F2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77440" y="129844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1-10km*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913632" y="1298448"/>
            <a:ext cx="1554480" cy="365760"/>
          </a:xfrm>
          <a:prstGeom prst="rect">
            <a:avLst/>
          </a:prstGeom>
          <a:solidFill>
            <a:srgbClr val="0D1F2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59352" y="129844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2-5km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0" y="1298448"/>
            <a:ext cx="1554480" cy="365760"/>
          </a:xfrm>
          <a:prstGeom prst="rect">
            <a:avLst/>
          </a:prstGeom>
          <a:solidFill>
            <a:srgbClr val="0D1F2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32120" y="129844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068312" y="1298448"/>
            <a:ext cx="1828800" cy="365760"/>
          </a:xfrm>
          <a:prstGeom prst="rect">
            <a:avLst/>
          </a:prstGeom>
          <a:solidFill>
            <a:srgbClr val="0D2A1A"/>
          </a:solidFill>
          <a:ln w="6350">
            <a:solidFill>
              <a:srgbClr val="00FF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14032" y="12984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10km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1682496"/>
            <a:ext cx="2011680" cy="365760"/>
          </a:xfrm>
          <a:prstGeom prst="rect">
            <a:avLst/>
          </a:prstGeom>
          <a:solidFill>
            <a:srgbClr val="0D1B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168249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331720" y="1682496"/>
            <a:ext cx="1554480" cy="365760"/>
          </a:xfrm>
          <a:prstGeom prst="rect">
            <a:avLst/>
          </a:prstGeom>
          <a:solidFill>
            <a:srgbClr val="0D1B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77440" y="168249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towers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913632" y="1682496"/>
            <a:ext cx="1554480" cy="365760"/>
          </a:xfrm>
          <a:prstGeom prst="rect">
            <a:avLst/>
          </a:prstGeom>
          <a:solidFill>
            <a:srgbClr val="0D1B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59352" y="168249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486400" y="1682496"/>
            <a:ext cx="1554480" cy="365760"/>
          </a:xfrm>
          <a:prstGeom prst="rect">
            <a:avLst/>
          </a:prstGeom>
          <a:solidFill>
            <a:srgbClr val="0D1B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32120" y="168249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068312" y="1682496"/>
            <a:ext cx="1828800" cy="365760"/>
          </a:xfrm>
          <a:prstGeom prst="rect">
            <a:avLst/>
          </a:prstGeom>
          <a:solidFill>
            <a:srgbClr val="0D2A1A"/>
          </a:solidFill>
          <a:ln w="6350">
            <a:solidFill>
              <a:srgbClr val="00FF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14032" y="168249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needed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74320" y="2066544"/>
            <a:ext cx="2011680" cy="365760"/>
          </a:xfrm>
          <a:prstGeom prst="rect">
            <a:avLst/>
          </a:prstGeom>
          <a:solidFill>
            <a:srgbClr val="0D1F2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206654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unit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331720" y="2066544"/>
            <a:ext cx="1554480" cy="365760"/>
          </a:xfrm>
          <a:prstGeom prst="rect">
            <a:avLst/>
          </a:prstGeom>
          <a:solidFill>
            <a:srgbClr val="0D1F2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377440" y="206654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₹500+SIM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913632" y="2066544"/>
            <a:ext cx="1554480" cy="365760"/>
          </a:xfrm>
          <a:prstGeom prst="rect">
            <a:avLst/>
          </a:prstGeom>
          <a:solidFill>
            <a:srgbClr val="0D1F2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959352" y="206654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₹3000+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486400" y="2066544"/>
            <a:ext cx="1554480" cy="365760"/>
          </a:xfrm>
          <a:prstGeom prst="rect">
            <a:avLst/>
          </a:prstGeom>
          <a:solidFill>
            <a:srgbClr val="0D1F2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532120" y="206654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₹80,000+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068312" y="2066544"/>
            <a:ext cx="1828800" cy="365760"/>
          </a:xfrm>
          <a:prstGeom prst="rect">
            <a:avLst/>
          </a:prstGeom>
          <a:solidFill>
            <a:srgbClr val="0D2A1A"/>
          </a:solidFill>
          <a:ln w="6350">
            <a:solidFill>
              <a:srgbClr val="00FF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14032" y="206654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~₹1500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74320" y="2450592"/>
            <a:ext cx="2011680" cy="365760"/>
          </a:xfrm>
          <a:prstGeom prst="rect">
            <a:avLst/>
          </a:prstGeom>
          <a:solidFill>
            <a:srgbClr val="0D1B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040" y="245059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cost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331720" y="2450592"/>
            <a:ext cx="1554480" cy="365760"/>
          </a:xfrm>
          <a:prstGeom prst="rect">
            <a:avLst/>
          </a:prstGeom>
          <a:solidFill>
            <a:srgbClr val="0D1B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377440" y="245059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SIM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913632" y="2450592"/>
            <a:ext cx="1554480" cy="365760"/>
          </a:xfrm>
          <a:prstGeom prst="rect">
            <a:avLst/>
          </a:prstGeom>
          <a:solidFill>
            <a:srgbClr val="0D1B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959352" y="245059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486400" y="2450592"/>
            <a:ext cx="1554480" cy="365760"/>
          </a:xfrm>
          <a:prstGeom prst="rect">
            <a:avLst/>
          </a:prstGeom>
          <a:solidFill>
            <a:srgbClr val="0D1B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532120" y="245059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minute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7068312" y="2450592"/>
            <a:ext cx="1828800" cy="365760"/>
          </a:xfrm>
          <a:prstGeom prst="rect">
            <a:avLst/>
          </a:prstGeom>
          <a:solidFill>
            <a:srgbClr val="0D2A1A"/>
          </a:solidFill>
          <a:ln w="6350">
            <a:solidFill>
              <a:srgbClr val="00FF8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114032" y="24505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274320" y="2834640"/>
            <a:ext cx="2011680" cy="365760"/>
          </a:xfrm>
          <a:prstGeom prst="rect">
            <a:avLst/>
          </a:prstGeom>
          <a:solidFill>
            <a:srgbClr val="0D1F2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20040" y="28346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offline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2331720" y="2834640"/>
            <a:ext cx="1554480" cy="365760"/>
          </a:xfrm>
          <a:prstGeom prst="rect">
            <a:avLst/>
          </a:prstGeom>
          <a:solidFill>
            <a:srgbClr val="0D1F2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377440" y="28346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3913632" y="2834640"/>
            <a:ext cx="1554480" cy="365760"/>
          </a:xfrm>
          <a:prstGeom prst="rect">
            <a:avLst/>
          </a:prstGeom>
          <a:solidFill>
            <a:srgbClr val="0D1F2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959352" y="28346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Yes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5486400" y="2834640"/>
            <a:ext cx="1554480" cy="365760"/>
          </a:xfrm>
          <a:prstGeom prst="rect">
            <a:avLst/>
          </a:prstGeom>
          <a:solidFill>
            <a:srgbClr val="0D1F2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532120" y="28346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Yes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7068312" y="2834640"/>
            <a:ext cx="1828800" cy="365760"/>
          </a:xfrm>
          <a:prstGeom prst="rect">
            <a:avLst/>
          </a:prstGeom>
          <a:solidFill>
            <a:srgbClr val="0D2A1A"/>
          </a:solidFill>
          <a:ln w="6350">
            <a:solidFill>
              <a:srgbClr val="00FF8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114032" y="28346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Yes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274320" y="3218688"/>
            <a:ext cx="2011680" cy="365760"/>
          </a:xfrm>
          <a:prstGeom prst="rect">
            <a:avLst/>
          </a:prstGeom>
          <a:solidFill>
            <a:srgbClr val="0D1B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20040" y="321868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display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2331720" y="3218688"/>
            <a:ext cx="1554480" cy="365760"/>
          </a:xfrm>
          <a:prstGeom prst="rect">
            <a:avLst/>
          </a:prstGeom>
          <a:solidFill>
            <a:srgbClr val="0D1B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377440" y="321868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Yes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3913632" y="3218688"/>
            <a:ext cx="1554480" cy="365760"/>
          </a:xfrm>
          <a:prstGeom prst="rect">
            <a:avLst/>
          </a:prstGeom>
          <a:solidFill>
            <a:srgbClr val="0D1B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959352" y="321868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5486400" y="3218688"/>
            <a:ext cx="1554480" cy="365760"/>
          </a:xfrm>
          <a:prstGeom prst="rect">
            <a:avLst/>
          </a:prstGeom>
          <a:solidFill>
            <a:srgbClr val="0D1B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532120" y="321868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Limited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7068312" y="3218688"/>
            <a:ext cx="1828800" cy="365760"/>
          </a:xfrm>
          <a:prstGeom prst="rect">
            <a:avLst/>
          </a:prstGeom>
          <a:solidFill>
            <a:srgbClr val="0D2A1A"/>
          </a:solidFill>
          <a:ln w="6350">
            <a:solidFill>
              <a:srgbClr val="00FF8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114032" y="321868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Matrix+Web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274320" y="3602736"/>
            <a:ext cx="2011680" cy="365760"/>
          </a:xfrm>
          <a:prstGeom prst="rect">
            <a:avLst/>
          </a:prstGeom>
          <a:solidFill>
            <a:srgbClr val="0D1F2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20040" y="360273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survival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2331720" y="3602736"/>
            <a:ext cx="1554480" cy="365760"/>
          </a:xfrm>
          <a:prstGeom prst="rect">
            <a:avLst/>
          </a:prstGeom>
          <a:solidFill>
            <a:srgbClr val="0D1F2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377440" y="360273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Poor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3913632" y="3602736"/>
            <a:ext cx="1554480" cy="365760"/>
          </a:xfrm>
          <a:prstGeom prst="rect">
            <a:avLst/>
          </a:prstGeom>
          <a:solidFill>
            <a:srgbClr val="0D1F2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959352" y="360273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Good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5486400" y="3602736"/>
            <a:ext cx="1554480" cy="365760"/>
          </a:xfrm>
          <a:prstGeom prst="rect">
            <a:avLst/>
          </a:prstGeom>
          <a:solidFill>
            <a:srgbClr val="0D1F2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532120" y="360273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Good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7068312" y="3602736"/>
            <a:ext cx="1828800" cy="365760"/>
          </a:xfrm>
          <a:prstGeom prst="rect">
            <a:avLst/>
          </a:prstGeom>
          <a:solidFill>
            <a:srgbClr val="0D2A1A"/>
          </a:solidFill>
          <a:ln w="6350">
            <a:solidFill>
              <a:srgbClr val="00FF88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114032" y="360273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Excellent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274320" y="3986784"/>
            <a:ext cx="2011680" cy="365760"/>
          </a:xfrm>
          <a:prstGeom prst="rect">
            <a:avLst/>
          </a:prstGeom>
          <a:solidFill>
            <a:srgbClr val="0D1B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20040" y="398678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time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2331720" y="3986784"/>
            <a:ext cx="1554480" cy="365760"/>
          </a:xfrm>
          <a:prstGeom prst="rect">
            <a:avLst/>
          </a:prstGeom>
          <a:solidFill>
            <a:srgbClr val="0D1B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2377440" y="398678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Pre-existing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3913632" y="3986784"/>
            <a:ext cx="1554480" cy="365760"/>
          </a:xfrm>
          <a:prstGeom prst="rect">
            <a:avLst/>
          </a:prstGeom>
          <a:solidFill>
            <a:srgbClr val="0D1B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959352" y="398678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5486400" y="3986784"/>
            <a:ext cx="1554480" cy="365760"/>
          </a:xfrm>
          <a:prstGeom prst="rect">
            <a:avLst/>
          </a:prstGeom>
          <a:solidFill>
            <a:srgbClr val="0D1B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532120" y="398678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7068312" y="3986784"/>
            <a:ext cx="1828800" cy="365760"/>
          </a:xfrm>
          <a:prstGeom prst="rect">
            <a:avLst/>
          </a:prstGeom>
          <a:solidFill>
            <a:srgbClr val="0D2A1A"/>
          </a:solidFill>
          <a:ln w="6350">
            <a:solidFill>
              <a:srgbClr val="00FF88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7114032" y="398678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950" dirty="0"/>
          </a:p>
        </p:txBody>
      </p:sp>
      <p:sp>
        <p:nvSpPr>
          <p:cNvPr id="95" name="Shape 93"/>
          <p:cNvSpPr/>
          <p:nvPr/>
        </p:nvSpPr>
        <p:spPr>
          <a:xfrm>
            <a:off x="274320" y="4370832"/>
            <a:ext cx="2011680" cy="365760"/>
          </a:xfrm>
          <a:prstGeom prst="rect">
            <a:avLst/>
          </a:prstGeom>
          <a:solidFill>
            <a:srgbClr val="0D1F2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320040" y="43708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consumption</a:t>
            </a:r>
            <a:endParaRPr lang="en-US" sz="950" dirty="0"/>
          </a:p>
        </p:txBody>
      </p:sp>
      <p:sp>
        <p:nvSpPr>
          <p:cNvPr id="97" name="Shape 95"/>
          <p:cNvSpPr/>
          <p:nvPr/>
        </p:nvSpPr>
        <p:spPr>
          <a:xfrm>
            <a:off x="2331720" y="4370832"/>
            <a:ext cx="1554480" cy="365760"/>
          </a:xfrm>
          <a:prstGeom prst="rect">
            <a:avLst/>
          </a:prstGeom>
          <a:solidFill>
            <a:srgbClr val="0D1F2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2377440" y="437083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99" name="Shape 97"/>
          <p:cNvSpPr/>
          <p:nvPr/>
        </p:nvSpPr>
        <p:spPr>
          <a:xfrm>
            <a:off x="3913632" y="4370832"/>
            <a:ext cx="1554480" cy="365760"/>
          </a:xfrm>
          <a:prstGeom prst="rect">
            <a:avLst/>
          </a:prstGeom>
          <a:solidFill>
            <a:srgbClr val="0D1F2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3959352" y="437083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50" dirty="0"/>
          </a:p>
        </p:txBody>
      </p:sp>
      <p:sp>
        <p:nvSpPr>
          <p:cNvPr id="101" name="Shape 99"/>
          <p:cNvSpPr/>
          <p:nvPr/>
        </p:nvSpPr>
        <p:spPr>
          <a:xfrm>
            <a:off x="5486400" y="4370832"/>
            <a:ext cx="1554480" cy="365760"/>
          </a:xfrm>
          <a:prstGeom prst="rect">
            <a:avLst/>
          </a:prstGeom>
          <a:solidFill>
            <a:srgbClr val="0D1F2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5532120" y="437083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103" name="Shape 101"/>
          <p:cNvSpPr/>
          <p:nvPr/>
        </p:nvSpPr>
        <p:spPr>
          <a:xfrm>
            <a:off x="7068312" y="4370832"/>
            <a:ext cx="1828800" cy="365760"/>
          </a:xfrm>
          <a:prstGeom prst="rect">
            <a:avLst/>
          </a:prstGeom>
          <a:solidFill>
            <a:srgbClr val="0D2A1A"/>
          </a:solidFill>
          <a:ln w="6350">
            <a:solidFill>
              <a:srgbClr val="00FF88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7114032" y="43708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 Low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AA00"/>
          </a:solidFill>
          <a:ln w="12700">
            <a:solidFill>
              <a:srgbClr val="FFAA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 WORLD IMPACT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system makes a measurable difference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114800" cy="1965960"/>
          </a:xfrm>
          <a:prstGeom prst="rect">
            <a:avLst/>
          </a:prstGeom>
          <a:solidFill>
            <a:srgbClr val="0D1B2A"/>
          </a:solidFill>
          <a:ln w="12700">
            <a:solidFill>
              <a:srgbClr val="4A9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14400"/>
            <a:ext cx="4114800" cy="36576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0058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🌊  Flood Response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987552"/>
            <a:ext cx="1078992" cy="640080"/>
          </a:xfrm>
          <a:prstGeom prst="rect">
            <a:avLst/>
          </a:prstGeom>
          <a:solidFill>
            <a:srgbClr val="4A9EFF">
              <a:alpha val="25000"/>
            </a:srgbClr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987552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9E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72hrs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291840" y="1353312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comms blackout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75488" y="1389888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Kerala floods 2018, rescue teams lost communication for 72+ hours. LoRa nodes deployed on boats could maintain coordination across 8km waterways with zero infrastructure.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3063240"/>
            <a:ext cx="4114800" cy="1965960"/>
          </a:xfrm>
          <a:prstGeom prst="rect">
            <a:avLst/>
          </a:prstGeom>
          <a:solidFill>
            <a:srgbClr val="0D1B2A"/>
          </a:solidFill>
          <a:ln w="12700">
            <a:solidFill>
              <a:srgbClr val="F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3063240"/>
            <a:ext cx="4114800" cy="36576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31546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🏔  Earthquake Relief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91840" y="3136392"/>
            <a:ext cx="1078992" cy="640080"/>
          </a:xfrm>
          <a:prstGeom prst="rect">
            <a:avLst/>
          </a:prstGeom>
          <a:solidFill>
            <a:srgbClr val="FF4444">
              <a:alpha val="25000"/>
            </a:srgbClr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3136392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96%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291840" y="3502152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Tower failure rate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475488" y="3538728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2023 Turkey earthquake, 96% of towers failed. A LoRa mesh of 10 nodes covering a 50km² zone could be deployed in under 30 minutes by any volunteer team.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914400"/>
            <a:ext cx="4114800" cy="1965960"/>
          </a:xfrm>
          <a:prstGeom prst="rect">
            <a:avLst/>
          </a:prstGeom>
          <a:solidFill>
            <a:srgbClr val="0D1B2A"/>
          </a:solidFill>
          <a:ln w="12700">
            <a:solidFill>
              <a:srgbClr val="FFAA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914400"/>
            <a:ext cx="4114800" cy="36576"/>
          </a:xfrm>
          <a:prstGeom prst="rect">
            <a:avLst/>
          </a:prstGeom>
          <a:solidFill>
            <a:srgbClr val="FFAA00"/>
          </a:solidFill>
          <a:ln w="12700">
            <a:solidFill>
              <a:srgbClr val="FFAA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18888" y="10058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 Wildfire Operations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635240" y="987552"/>
            <a:ext cx="1078992" cy="640080"/>
          </a:xfrm>
          <a:prstGeom prst="rect">
            <a:avLst/>
          </a:prstGeom>
          <a:solidFill>
            <a:srgbClr val="FFAA00">
              <a:alpha val="25000"/>
            </a:srgbClr>
          </a:solidFill>
          <a:ln w="12700">
            <a:solidFill>
              <a:srgbClr val="FFAA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35240" y="987552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A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10km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635240" y="1353312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per node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818888" y="1389888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 fire crews operating beyond radio range can relay structured alerts — 'danger', 'medical', 'evacuation' — back to base without any repeater infrastructure.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09160" y="3063240"/>
            <a:ext cx="4114800" cy="1965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0FF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3063240"/>
            <a:ext cx="4114800" cy="36576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18888" y="31546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🏕  Remote Villages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635240" y="3136392"/>
            <a:ext cx="1078992" cy="640080"/>
          </a:xfrm>
          <a:prstGeom prst="rect">
            <a:avLst/>
          </a:prstGeom>
          <a:solidFill>
            <a:srgbClr val="00FF88">
              <a:alpha val="25000"/>
            </a:srgbClr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35240" y="3136392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₹1500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635240" y="3502152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node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4818888" y="3538728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₹1500 per node, a village can deploy a permanent early warning system for floods or fires — sending alerts to field workers and displaying on public matrix boards.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FUTURE SCOPE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for extending the RANGER–VILLAGE system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2011680" cy="3886200"/>
          </a:xfrm>
          <a:prstGeom prst="rect">
            <a:avLst/>
          </a:prstGeom>
          <a:solidFill>
            <a:srgbClr val="0D1B2A"/>
          </a:solidFill>
          <a:ln w="12700">
            <a:solidFill>
              <a:srgbClr val="4A9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14400"/>
            <a:ext cx="2011680" cy="347472"/>
          </a:xfrm>
          <a:prstGeom prst="rect">
            <a:avLst/>
          </a:prstGeom>
          <a:solidFill>
            <a:srgbClr val="4A9EFF">
              <a:alpha val="80000"/>
            </a:srgbClr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144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3716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🔗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65760" y="18745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 Networking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30352" y="2331720"/>
            <a:ext cx="91440" cy="91440"/>
          </a:xfrm>
          <a:prstGeom prst="ellipse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26771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Multi-hop LoRa relay nodes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30352" y="2834640"/>
            <a:ext cx="91440" cy="91440"/>
          </a:xfrm>
          <a:prstGeom prst="ellipse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77063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range to 50+ km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30352" y="3337560"/>
            <a:ext cx="91440" cy="91440"/>
          </a:xfrm>
          <a:prstGeom prst="ellipse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27355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network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30352" y="3840480"/>
            <a:ext cx="91440" cy="91440"/>
          </a:xfrm>
          <a:prstGeom prst="ellipse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77647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50 nodes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514600" y="914400"/>
            <a:ext cx="2011680" cy="3886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0FF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514600" y="914400"/>
            <a:ext cx="2011680" cy="347472"/>
          </a:xfrm>
          <a:prstGeom prst="rect">
            <a:avLst/>
          </a:prstGeom>
          <a:solidFill>
            <a:srgbClr val="00FF88">
              <a:alpha val="80000"/>
            </a:srgbClr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14600" y="9144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514600" y="13716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📍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2514600" y="18745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Integration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679192" y="2331720"/>
            <a:ext cx="91440" cy="91440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34640" y="226771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location tracking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679192" y="2834640"/>
            <a:ext cx="91440" cy="91440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34640" y="277063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view on dashboard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679192" y="3337560"/>
            <a:ext cx="91440" cy="91440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34640" y="327355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Geofence alerts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679192" y="3840480"/>
            <a:ext cx="91440" cy="91440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34640" y="377647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rescue routing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63440" y="914400"/>
            <a:ext cx="2011680" cy="3886200"/>
          </a:xfrm>
          <a:prstGeom prst="rect">
            <a:avLst/>
          </a:prstGeom>
          <a:solidFill>
            <a:srgbClr val="0D1B2A"/>
          </a:solidFill>
          <a:ln w="12700">
            <a:solidFill>
              <a:srgbClr val="FFAA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63440" y="914400"/>
            <a:ext cx="2011680" cy="347472"/>
          </a:xfrm>
          <a:prstGeom prst="rect">
            <a:avLst/>
          </a:prstGeom>
          <a:solidFill>
            <a:srgbClr val="FFAA00">
              <a:alpha val="80000"/>
            </a:srgbClr>
          </a:solidFill>
          <a:ln w="12700">
            <a:solidFill>
              <a:srgbClr val="FFAA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9144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3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663440" y="13716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4663440" y="18745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Alerts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828032" y="2331720"/>
            <a:ext cx="91440" cy="91440"/>
          </a:xfrm>
          <a:prstGeom prst="ellipse">
            <a:avLst/>
          </a:prstGeom>
          <a:solidFill>
            <a:srgbClr val="FFAA00"/>
          </a:solidFill>
          <a:ln w="12700">
            <a:solidFill>
              <a:srgbClr val="FFAA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83480" y="226771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Sensor-based flood detection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828032" y="2834640"/>
            <a:ext cx="91440" cy="91440"/>
          </a:xfrm>
          <a:prstGeom prst="ellipse">
            <a:avLst/>
          </a:prstGeom>
          <a:solidFill>
            <a:srgbClr val="FFAA00"/>
          </a:solidFill>
          <a:ln w="12700">
            <a:solidFill>
              <a:srgbClr val="FFAA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83480" y="277063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danger alerts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828032" y="3337560"/>
            <a:ext cx="91440" cy="91440"/>
          </a:xfrm>
          <a:prstGeom prst="ellipse">
            <a:avLst/>
          </a:prstGeom>
          <a:solidFill>
            <a:srgbClr val="FFAA00"/>
          </a:solidFill>
          <a:ln w="12700">
            <a:solidFill>
              <a:srgbClr val="FFAA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83480" y="327355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TinyML on ESP32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828032" y="3840480"/>
            <a:ext cx="91440" cy="91440"/>
          </a:xfrm>
          <a:prstGeom prst="ellipse">
            <a:avLst/>
          </a:prstGeom>
          <a:solidFill>
            <a:srgbClr val="FFAA00"/>
          </a:solidFill>
          <a:ln w="12700">
            <a:solidFill>
              <a:srgbClr val="FFAA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83480" y="377647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warnings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812280" y="914400"/>
            <a:ext cx="2011680" cy="3886200"/>
          </a:xfrm>
          <a:prstGeom prst="rect">
            <a:avLst/>
          </a:prstGeom>
          <a:solidFill>
            <a:srgbClr val="0D1B2A"/>
          </a:solidFill>
          <a:ln w="12700">
            <a:solidFill>
              <a:srgbClr val="F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812280" y="914400"/>
            <a:ext cx="2011680" cy="347472"/>
          </a:xfrm>
          <a:prstGeom prst="rect">
            <a:avLst/>
          </a:prstGeom>
          <a:solidFill>
            <a:srgbClr val="FF4444">
              <a:alpha val="80000"/>
            </a:srgbClr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12280" y="9144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4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812280" y="13716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☀</a:t>
            </a:r>
            <a:endParaRPr lang="en-US" sz="2400" dirty="0"/>
          </a:p>
        </p:txBody>
      </p:sp>
      <p:sp>
        <p:nvSpPr>
          <p:cNvPr id="48" name="Text 46"/>
          <p:cNvSpPr/>
          <p:nvPr/>
        </p:nvSpPr>
        <p:spPr>
          <a:xfrm>
            <a:off x="6812280" y="18745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Power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976872" y="2331720"/>
            <a:ext cx="91440" cy="91440"/>
          </a:xfrm>
          <a:prstGeom prst="ellipse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132320" y="226771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deployment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976872" y="2834640"/>
            <a:ext cx="91440" cy="91440"/>
          </a:xfrm>
          <a:prstGeom prst="ellipse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132320" y="277063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Off-grid operation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976872" y="3337560"/>
            <a:ext cx="91440" cy="91440"/>
          </a:xfrm>
          <a:prstGeom prst="ellipse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132320" y="327355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+ solar panel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976872" y="3840480"/>
            <a:ext cx="91440" cy="91440"/>
          </a:xfrm>
          <a:prstGeom prst="ellipse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132320" y="377647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maintenance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365760" y="4663440"/>
            <a:ext cx="8412480" cy="384048"/>
          </a:xfrm>
          <a:prstGeom prst="rect">
            <a:avLst/>
          </a:prstGeom>
          <a:solidFill>
            <a:srgbClr val="1A2F4A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65760" y="4663440"/>
            <a:ext cx="73152" cy="384048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94360" y="466344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Vision: A ₹1500 node that any village can deploy for permanent disaster early-warning — no technician, no internet, no power grid required.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 Study - LoRa Emergency Communication</dc:title>
  <dc:subject>PptxGenJS Presentation</dc:subject>
  <dc:creator>PptxGenJS</dc:creator>
  <cp:lastModifiedBy>PptxGenJS</cp:lastModifiedBy>
  <cp:revision>1</cp:revision>
  <dcterms:created xsi:type="dcterms:W3CDTF">2026-03-11T09:36:48Z</dcterms:created>
  <dcterms:modified xsi:type="dcterms:W3CDTF">2026-03-11T09:36:48Z</dcterms:modified>
</cp:coreProperties>
</file>